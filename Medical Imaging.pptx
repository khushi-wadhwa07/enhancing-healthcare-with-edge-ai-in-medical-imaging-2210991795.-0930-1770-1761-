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9" r:id="rId3"/>
    <p:sldId id="258" r:id="rId4"/>
    <p:sldId id="260" r:id="rId5"/>
    <p:sldId id="262" r:id="rId6"/>
    <p:sldId id="269" r:id="rId7"/>
    <p:sldId id="270" r:id="rId8"/>
    <p:sldId id="271" r:id="rId9"/>
    <p:sldId id="261" r:id="rId10"/>
    <p:sldId id="266"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TNTX5De3Me30PXYyhjakiUy17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 name="Google Shape;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AF6726FE-33FB-F804-ED2D-2E15AC41B0DF}"/>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EF8655B4-A5D4-3384-6A56-6018F5F03C3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11A9976B-A2D5-97D8-C661-CA8B478A600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0924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6659C785-E2C5-7E69-63C5-D3F30BE7B8A4}"/>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EE76393E-CB12-6C28-B057-569EBD5E58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7BCC880A-F08C-9B03-6260-27FC6B59EC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2190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C0484714-2211-2EBA-7A60-60834A230396}"/>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D731478D-35FF-B424-835B-287B151FE5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C9F2A24F-3E83-CD88-6192-1B0B9E5485A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8247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14720E48-6C77-D9B3-4C3C-800FF499B32A}"/>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FEF632E3-E731-5D11-3CCC-51BCF2C486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03AFC787-743F-1CF0-A312-12198A5D66C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596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7B5A0E75-9C76-2467-30CB-789517117E61}"/>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241AD6F0-9657-C834-8EA1-2F92CE453F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EAFDD71D-0FED-1BF6-CE89-69778840CE2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0940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EA6C1483-278B-6999-D483-8608DE93BAF0}"/>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134D343F-8196-DE71-E95B-8F4E3F001E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18335413-C15F-4BFB-1E06-294C96E66F4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352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A4A7CA5B-4257-07B7-A134-E6B7338C32D9}"/>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5756F0D8-5594-EE8B-ADAC-987B51BF3C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BC16759A-20E4-4E37-0514-2E1F77030C5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0904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E946754F-E365-E614-B7E6-D573D56621BD}"/>
            </a:ext>
          </a:extLst>
        </p:cNvPr>
        <p:cNvGrpSpPr/>
        <p:nvPr/>
      </p:nvGrpSpPr>
      <p:grpSpPr>
        <a:xfrm>
          <a:off x="0" y="0"/>
          <a:ext cx="0" cy="0"/>
          <a:chOff x="0" y="0"/>
          <a:chExt cx="0" cy="0"/>
        </a:xfrm>
      </p:grpSpPr>
      <p:sp>
        <p:nvSpPr>
          <p:cNvPr id="60" name="Google Shape;60;p3:notes">
            <a:extLst>
              <a:ext uri="{FF2B5EF4-FFF2-40B4-BE49-F238E27FC236}">
                <a16:creationId xmlns:a16="http://schemas.microsoft.com/office/drawing/2014/main" id="{3194BD27-96BF-86DF-4D04-51ECF5F3F8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a:extLst>
              <a:ext uri="{FF2B5EF4-FFF2-40B4-BE49-F238E27FC236}">
                <a16:creationId xmlns:a16="http://schemas.microsoft.com/office/drawing/2014/main" id="{123080FE-BC6C-2E8F-7022-1E5EEA6E58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8301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2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b="1">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2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43" name="Google Shape;43;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2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
        <p:nvSpPr>
          <p:cNvPr id="15" name="Google Shape;15;p21"/>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21"/>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21"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21"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21"/>
          <p:cNvGrpSpPr/>
          <p:nvPr/>
        </p:nvGrpSpPr>
        <p:grpSpPr>
          <a:xfrm>
            <a:off x="6146800" y="0"/>
            <a:ext cx="2997200" cy="876300"/>
            <a:chOff x="6096000" y="3924300"/>
            <a:chExt cx="2997200" cy="876300"/>
          </a:xfrm>
        </p:grpSpPr>
        <p:sp>
          <p:nvSpPr>
            <p:cNvPr id="20" name="Google Shape;20;p2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21"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2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3" name="Google Shape;23;p21"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1" name="Google Shape;51;p1"/>
          <p:cNvSpPr txBox="1"/>
          <p:nvPr/>
        </p:nvSpPr>
        <p:spPr>
          <a:xfrm>
            <a:off x="624260" y="1124744"/>
            <a:ext cx="7632900" cy="546812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2000" b="1" i="0" u="none" strike="noStrike" cap="none" dirty="0">
                <a:solidFill>
                  <a:schemeClr val="dk1"/>
                </a:solidFill>
                <a:latin typeface="Times New Roman"/>
                <a:ea typeface="Times New Roman"/>
                <a:cs typeface="Times New Roman"/>
                <a:sym typeface="Times New Roman"/>
              </a:rPr>
              <a:t>Presentation </a:t>
            </a:r>
            <a:r>
              <a:rPr lang="en-IN" sz="2000" b="1" dirty="0">
                <a:solidFill>
                  <a:schemeClr val="dk1"/>
                </a:solidFill>
                <a:latin typeface="Times New Roman"/>
                <a:ea typeface="Times New Roman"/>
                <a:cs typeface="Times New Roman"/>
                <a:sym typeface="Times New Roman"/>
              </a:rPr>
              <a:t>on</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4400"/>
              <a:buFont typeface="Arial"/>
              <a:buNone/>
            </a:pPr>
            <a:r>
              <a:rPr lang="en-US" sz="2400" b="1" dirty="0"/>
              <a:t>Enhancing Healthcare with Edge AI in Medical Imaging</a:t>
            </a:r>
          </a:p>
          <a:p>
            <a:pPr marL="0" marR="0" lvl="0" indent="0" algn="ctr" rtl="0">
              <a:lnSpc>
                <a:spcPct val="100000"/>
              </a:lnSpc>
              <a:spcBef>
                <a:spcPts val="400"/>
              </a:spcBef>
              <a:spcAft>
                <a:spcPts val="0"/>
              </a:spcAft>
              <a:buClr>
                <a:srgbClr val="000000"/>
              </a:buClr>
              <a:buSzPts val="4400"/>
              <a:buFont typeface="Arial"/>
              <a:buNone/>
            </a:pPr>
            <a:endParaRPr lang="en-IN" sz="2400" b="1" i="1"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4400"/>
              <a:buFont typeface="Arial"/>
              <a:buNone/>
            </a:pPr>
            <a:r>
              <a:rPr lang="en-IN" sz="2000" dirty="0">
                <a:solidFill>
                  <a:schemeClr val="dk1"/>
                </a:solidFill>
                <a:latin typeface="Times New Roman"/>
                <a:ea typeface="Times New Roman"/>
                <a:cs typeface="Times New Roman"/>
                <a:sym typeface="Times New Roman"/>
              </a:rPr>
              <a:t>Submitted by:</a:t>
            </a:r>
            <a:endParaRPr lang="en-IN" sz="1600" b="0" u="none" strike="noStrike" cap="none" dirty="0">
              <a:solidFill>
                <a:schemeClr val="dk1"/>
              </a:solidFill>
              <a:latin typeface="Times New Roman"/>
              <a:ea typeface="Times New Roman"/>
              <a:cs typeface="Times New Roman"/>
              <a:sym typeface="Times New Roman"/>
            </a:endParaRPr>
          </a:p>
          <a:p>
            <a:pPr lvl="1" algn="ctr">
              <a:spcBef>
                <a:spcPts val="400"/>
              </a:spcBef>
              <a:buSzPts val="1800"/>
            </a:pPr>
            <a:r>
              <a:rPr lang="en-US" sz="1600" dirty="0"/>
              <a:t>Khushi (2210991795)</a:t>
            </a:r>
          </a:p>
          <a:p>
            <a:pPr lvl="1" algn="ctr">
              <a:spcBef>
                <a:spcPts val="400"/>
              </a:spcBef>
              <a:buSzPts val="1800"/>
            </a:pPr>
            <a:r>
              <a:rPr lang="en-US" sz="1600" dirty="0"/>
              <a:t>Vaani (2210990930)</a:t>
            </a:r>
          </a:p>
          <a:p>
            <a:pPr lvl="1" algn="ctr">
              <a:spcBef>
                <a:spcPts val="400"/>
              </a:spcBef>
              <a:buSzPts val="1800"/>
            </a:pPr>
            <a:r>
              <a:rPr lang="en-US" sz="1600" dirty="0"/>
              <a:t> Kashish Sharma (2210991770) </a:t>
            </a:r>
          </a:p>
          <a:p>
            <a:pPr lvl="1" algn="ctr">
              <a:spcBef>
                <a:spcPts val="400"/>
              </a:spcBef>
              <a:buSzPts val="1800"/>
            </a:pPr>
            <a:r>
              <a:rPr lang="en-US" sz="1600" dirty="0" err="1"/>
              <a:t>Kartikay</a:t>
            </a:r>
            <a:r>
              <a:rPr lang="en-US" sz="1600" dirty="0"/>
              <a:t> Singh Manhas (2210991761) </a:t>
            </a:r>
          </a:p>
          <a:p>
            <a:pPr lvl="1" algn="ctr">
              <a:spcBef>
                <a:spcPts val="400"/>
              </a:spcBef>
              <a:buSzPts val="1800"/>
            </a:pPr>
            <a:endParaRPr sz="18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1800"/>
              <a:buFont typeface="Arial"/>
              <a:buNone/>
            </a:pPr>
            <a:r>
              <a:rPr lang="en-IN" sz="1800" b="0" i="0" u="none" strike="noStrike" cap="none" dirty="0">
                <a:solidFill>
                  <a:srgbClr val="000000"/>
                </a:solidFill>
                <a:latin typeface="Times New Roman"/>
                <a:ea typeface="Times New Roman"/>
                <a:cs typeface="Times New Roman"/>
                <a:sym typeface="Times New Roman"/>
              </a:rPr>
              <a:t>Supervised by: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800"/>
              <a:buFont typeface="Arial"/>
              <a:buNone/>
            </a:pPr>
            <a:r>
              <a:rPr lang="en-IN" sz="1800" b="0" i="0" u="none" strike="noStrike" cap="none" dirty="0">
                <a:solidFill>
                  <a:srgbClr val="000000"/>
                </a:solidFill>
                <a:latin typeface="Times New Roman"/>
                <a:ea typeface="Times New Roman"/>
                <a:cs typeface="Times New Roman"/>
                <a:sym typeface="Times New Roman"/>
              </a:rPr>
              <a:t>Dr. Rajat </a:t>
            </a:r>
            <a:r>
              <a:rPr lang="en-IN" sz="1800" b="0" i="0" u="none" strike="noStrike" cap="none" dirty="0" err="1">
                <a:solidFill>
                  <a:srgbClr val="000000"/>
                </a:solidFill>
                <a:latin typeface="Times New Roman"/>
                <a:ea typeface="Times New Roman"/>
                <a:cs typeface="Times New Roman"/>
                <a:sym typeface="Times New Roman"/>
              </a:rPr>
              <a:t>Takkar</a:t>
            </a:r>
            <a:endParaRPr lang="en-US" sz="18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IN" sz="2000" b="0" i="0" u="none" strike="noStrike" cap="none" dirty="0">
                <a:solidFill>
                  <a:schemeClr val="dk1"/>
                </a:solidFill>
                <a:latin typeface="Times New Roman"/>
                <a:ea typeface="Times New Roman"/>
                <a:cs typeface="Times New Roman"/>
                <a:sym typeface="Times New Roman"/>
              </a:rPr>
              <a:t>Department of Computer Science and Engineering,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r>
              <a:rPr lang="en-IN" sz="2000" b="0" i="0" u="none" strike="noStrike" cap="none" dirty="0">
                <a:solidFill>
                  <a:schemeClr val="dk1"/>
                </a:solidFill>
                <a:latin typeface="Times New Roman"/>
                <a:ea typeface="Times New Roman"/>
                <a:cs typeface="Times New Roman"/>
                <a:sym typeface="Times New Roman"/>
              </a:rPr>
              <a:t>Chitkara University, Punjab</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DB6EA868-01E3-559F-5762-5602810732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a:t>
            </a:fld>
            <a:endParaRPr lang="en-IN"/>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23BA8307-4987-54BD-EFF5-7E4D7279B9B8}"/>
            </a:ext>
          </a:extLst>
        </p:cNvPr>
        <p:cNvGrpSpPr/>
        <p:nvPr/>
      </p:nvGrpSpPr>
      <p:grpSpPr>
        <a:xfrm>
          <a:off x="0" y="0"/>
          <a:ext cx="0" cy="0"/>
          <a:chOff x="0" y="0"/>
          <a:chExt cx="0" cy="0"/>
        </a:xfrm>
      </p:grpSpPr>
      <p:sp>
        <p:nvSpPr>
          <p:cNvPr id="63" name="Google Shape;63;p3">
            <a:extLst>
              <a:ext uri="{FF2B5EF4-FFF2-40B4-BE49-F238E27FC236}">
                <a16:creationId xmlns:a16="http://schemas.microsoft.com/office/drawing/2014/main" id="{160301DF-238F-A909-7698-39E43CD61B11}"/>
              </a:ext>
            </a:extLst>
          </p:cNvPr>
          <p:cNvSpPr txBox="1"/>
          <p:nvPr/>
        </p:nvSpPr>
        <p:spPr>
          <a:xfrm>
            <a:off x="354422" y="197745"/>
            <a:ext cx="54006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IN" sz="2800" b="1" i="0" dirty="0">
                <a:solidFill>
                  <a:srgbClr val="002D44"/>
                </a:solidFill>
                <a:effectLst/>
                <a:latin typeface="Times New Roman" panose="02020603050405020304" pitchFamily="18" charset="0"/>
                <a:cs typeface="Times New Roman" panose="02020603050405020304" pitchFamily="18" charset="0"/>
              </a:rPr>
              <a:t>Table of Contents</a:t>
            </a:r>
            <a:endParaRPr sz="28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Slide Number Placeholder 2">
            <a:extLst>
              <a:ext uri="{FF2B5EF4-FFF2-40B4-BE49-F238E27FC236}">
                <a16:creationId xmlns:a16="http://schemas.microsoft.com/office/drawing/2014/main" id="{530CA060-45FC-2893-CB4E-EC86A2CB52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a:t>
            </a:fld>
            <a:endParaRPr lang="en-IN"/>
          </a:p>
        </p:txBody>
      </p:sp>
      <p:sp>
        <p:nvSpPr>
          <p:cNvPr id="2" name="TextBox 1">
            <a:extLst>
              <a:ext uri="{FF2B5EF4-FFF2-40B4-BE49-F238E27FC236}">
                <a16:creationId xmlns:a16="http://schemas.microsoft.com/office/drawing/2014/main" id="{DA2D3BF7-9C66-BE56-98F7-D360B9657BB5}"/>
              </a:ext>
            </a:extLst>
          </p:cNvPr>
          <p:cNvSpPr txBox="1"/>
          <p:nvPr/>
        </p:nvSpPr>
        <p:spPr>
          <a:xfrm>
            <a:off x="491612" y="1278194"/>
            <a:ext cx="7747819" cy="5185522"/>
          </a:xfrm>
          <a:prstGeom prst="rect">
            <a:avLst/>
          </a:prstGeom>
          <a:noFill/>
        </p:spPr>
        <p:txBody>
          <a:bodyPr wrap="square" rtlCol="0">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IN" altLang="en-US" sz="2800" dirty="0">
                <a:solidFill>
                  <a:schemeClr val="tx1"/>
                </a:solidFill>
                <a:latin typeface="Times New Roman" panose="02020603050405020304" pitchFamily="18" charset="0"/>
                <a:cs typeface="Times New Roman" panose="02020603050405020304" pitchFamily="18" charset="0"/>
              </a:rPr>
              <a:t>Methodology / Approach Used</a:t>
            </a:r>
            <a:endParaRPr lang="en-US" altLang="en-US" sz="28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Outcomes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800" dirty="0">
                <a:solidFill>
                  <a:schemeClr val="tx1"/>
                </a:solidFill>
                <a:latin typeface="Times New Roman" panose="02020603050405020304" pitchFamily="18" charset="0"/>
                <a:cs typeface="Times New Roman" panose="02020603050405020304" pitchFamily="18" charset="0"/>
              </a:rPr>
              <a:t>Future Scope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a:t>
            </a:r>
            <a:r>
              <a:rPr lang="en-US" altLang="en-US" sz="2800" dirty="0">
                <a:solidFill>
                  <a:schemeClr val="tx1"/>
                </a:solidFill>
                <a:latin typeface="Times New Roman" panose="02020603050405020304" pitchFamily="18" charset="0"/>
                <a:cs typeface="Times New Roman" panose="02020603050405020304" pitchFamily="18" charset="0"/>
              </a:rPr>
              <a:t>nclusion</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5323272"/>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3"/>
          <p:cNvSpPr txBox="1"/>
          <p:nvPr/>
        </p:nvSpPr>
        <p:spPr>
          <a:xfrm>
            <a:off x="245807" y="197745"/>
            <a:ext cx="5400600" cy="1015622"/>
          </a:xfrm>
          <a:prstGeom prst="rect">
            <a:avLst/>
          </a:prstGeom>
          <a:noFill/>
          <a:ln>
            <a:noFill/>
          </a:ln>
        </p:spPr>
        <p:txBody>
          <a:bodyPr spcFirstLastPara="1" wrap="square" lIns="91425" tIns="45700" rIns="91425" bIns="45700" anchor="t" anchorCtr="0">
            <a:spAutoFit/>
          </a:bodyPr>
          <a:lstStyle/>
          <a:p>
            <a:pPr>
              <a:buSzPts val="3200"/>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p>
          <a:p>
            <a:pPr marL="0" marR="0" lvl="0" indent="0" algn="l" rtl="0">
              <a:lnSpc>
                <a:spcPct val="100000"/>
              </a:lnSpc>
              <a:spcBef>
                <a:spcPts val="0"/>
              </a:spcBef>
              <a:spcAft>
                <a:spcPts val="0"/>
              </a:spcAft>
              <a:buClr>
                <a:srgbClr val="000000"/>
              </a:buClr>
              <a:buSzPts val="3200"/>
              <a:buFont typeface="Arial"/>
              <a:buNone/>
            </a:pPr>
            <a:endParaRPr sz="28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Slide Number Placeholder 2">
            <a:extLst>
              <a:ext uri="{FF2B5EF4-FFF2-40B4-BE49-F238E27FC236}">
                <a16:creationId xmlns:a16="http://schemas.microsoft.com/office/drawing/2014/main" id="{39C89A3B-5285-AFD9-895C-B2E939E2F3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a:t>
            </a:fld>
            <a:endParaRPr lang="en-IN"/>
          </a:p>
        </p:txBody>
      </p:sp>
      <p:sp>
        <p:nvSpPr>
          <p:cNvPr id="4" name="TextBox 3">
            <a:extLst>
              <a:ext uri="{FF2B5EF4-FFF2-40B4-BE49-F238E27FC236}">
                <a16:creationId xmlns:a16="http://schemas.microsoft.com/office/drawing/2014/main" id="{7EF9338A-B80F-10B9-84B7-68A3AC17F50A}"/>
              </a:ext>
            </a:extLst>
          </p:cNvPr>
          <p:cNvSpPr txBox="1"/>
          <p:nvPr/>
        </p:nvSpPr>
        <p:spPr>
          <a:xfrm>
            <a:off x="245807" y="1213367"/>
            <a:ext cx="8543771" cy="470898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Medical imaging techniques such as X-rays, CT scans, MRI, and ultrasound are essential for diagnosing diseases and guiding treatment decisions. However, traditional healthcare systems often face delays in diagnosis because images are sent to specialists or cloud servers for analysis. In emergency cases such as accidents, stroke, or trauma, these delays can negatively affect patient outcomes and increase health risks. Another major challenge is the shortage of skilled radiologists and specialists, especially in rural and remote areas. Many healthcare centers do not have sufficient experts to interpret medical images accurately. Traditional AI systems usually depend on stable internet connectivity and cloud computing, which may not be available in villages, ambulances, or low-network areas. This also raises privacy concerns because sensitive patient data must be transmitted to external servers. Therefore, there is a need for an Edge AI-based medical imaging system that can process images locally, provide real-time accurate diagnosis, reduce dependency on the internet, improve data security, and help doctors make faster and smarter treatment decisions.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72D99D49-A36D-82E9-759A-DF516FAA11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2C527E-CC38-5EA7-0DF9-D6AD5FE84C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
        <p:nvSpPr>
          <p:cNvPr id="4" name="TextBox 3">
            <a:extLst>
              <a:ext uri="{FF2B5EF4-FFF2-40B4-BE49-F238E27FC236}">
                <a16:creationId xmlns:a16="http://schemas.microsoft.com/office/drawing/2014/main" id="{60209755-4AD8-F10C-4F27-CE85CA40754D}"/>
              </a:ext>
            </a:extLst>
          </p:cNvPr>
          <p:cNvSpPr txBox="1"/>
          <p:nvPr/>
        </p:nvSpPr>
        <p:spPr>
          <a:xfrm>
            <a:off x="245806" y="1361309"/>
            <a:ext cx="8534400" cy="440120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main objective of this project is to study the impact of Edge AI in medical imaging systems. It focuses on improving the speed of diagnosis through real-time image processing. The project aims to increase accuracy in detecting diseases and abnormalities from scans. It also helps in reducing delays caused by cloud-based systems. Another objective is to minimize human errors in image interpretation. The system is designed to support doctors in making faster treatment decisions. It aims to provide better healthcare services in rural and remote areas. The project also reduces dependency on internet connectivity. Protecting patient data privacy through local processing is another key objective. It focuses on optimizing AI models for portable medical devices. Integration with hospital records and EHR systems is also considered. The project seeks to reduce the workload of radiologists and staff. It also evaluates performance using accuracy, precision, recall, and speed. Finally, it explores future advancements to improve healthcare efficiency and patient outcomes.</a:t>
            </a:r>
            <a:endParaRPr lang="en-US" sz="105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EAE9241-3783-DC31-6C42-3994073213A7}"/>
              </a:ext>
            </a:extLst>
          </p:cNvPr>
          <p:cNvSpPr txBox="1"/>
          <p:nvPr/>
        </p:nvSpPr>
        <p:spPr>
          <a:xfrm>
            <a:off x="245806" y="186813"/>
            <a:ext cx="5338916" cy="523220"/>
          </a:xfrm>
          <a:prstGeom prst="rect">
            <a:avLst/>
          </a:prstGeom>
          <a:noFill/>
        </p:spPr>
        <p:txBody>
          <a:bodyPr wrap="square" rtlCol="0">
            <a:spAutoFit/>
          </a:bodyPr>
          <a:lstStyle/>
          <a:p>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a:t>
            </a:r>
            <a:endParaRPr lang="en-US" sz="2800" b="1" dirty="0"/>
          </a:p>
        </p:txBody>
      </p:sp>
    </p:spTree>
    <p:extLst>
      <p:ext uri="{BB962C8B-B14F-4D97-AF65-F5344CB8AC3E}">
        <p14:creationId xmlns:p14="http://schemas.microsoft.com/office/powerpoint/2010/main" val="202101123"/>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313005CB-83E4-313F-135C-B076743D6CB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4454E4-D453-407D-93F5-BFC68C02CD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sp>
        <p:nvSpPr>
          <p:cNvPr id="4" name="TextBox 3">
            <a:extLst>
              <a:ext uri="{FF2B5EF4-FFF2-40B4-BE49-F238E27FC236}">
                <a16:creationId xmlns:a16="http://schemas.microsoft.com/office/drawing/2014/main" id="{FFECFC06-AE35-D4B1-DD6E-43490EB43A99}"/>
              </a:ext>
            </a:extLst>
          </p:cNvPr>
          <p:cNvSpPr txBox="1"/>
          <p:nvPr/>
        </p:nvSpPr>
        <p:spPr>
          <a:xfrm>
            <a:off x="152400" y="1289379"/>
            <a:ext cx="8534400" cy="4093428"/>
          </a:xfrm>
          <a:prstGeom prst="rect">
            <a:avLst/>
          </a:prstGeom>
          <a:noFill/>
        </p:spPr>
        <p:txBody>
          <a:bodyPr wrap="square" rtlCol="0">
            <a:spAutoFit/>
          </a:bodyPr>
          <a:lstStyle/>
          <a:p>
            <a:pPr marL="457200" indent="-457200" algn="just">
              <a:buAutoNum type="arabicPeriod"/>
            </a:pPr>
            <a:r>
              <a:rPr lang="en-US" sz="2000" dirty="0">
                <a:latin typeface="Times New Roman" panose="02020603050405020304" pitchFamily="18" charset="0"/>
                <a:cs typeface="Times New Roman" panose="02020603050405020304" pitchFamily="18" charset="0"/>
              </a:rPr>
              <a:t>Mixed research approach using quantitative and qualitative analysis.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 Medical imaging data collected from CT scans, MRI, ultrasound, and Chest X-ray datasets.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Kaggle Chest X-ray Pneumonia dataset used for testing and validation.</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Data preprocessing done using normalization, resizing, and labeling techniques.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Deep Learning models, especially CNNs, used for image classification.</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Models trained to detect diseases and abnormalities in medical images.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Model performance tested for diagnostic accuracy and efficiency.</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Pruning, quantization, and compression used for optimization.</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Trained models deployed on local edge devices for real-time processing.</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Performance measured using accuracy, precision, recall, and speed.</a:t>
            </a:r>
          </a:p>
          <a:p>
            <a:pPr algn="just"/>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F057C99-30DF-3225-2B55-013156D565E1}"/>
              </a:ext>
            </a:extLst>
          </p:cNvPr>
          <p:cNvSpPr txBox="1"/>
          <p:nvPr/>
        </p:nvSpPr>
        <p:spPr>
          <a:xfrm>
            <a:off x="245806" y="186813"/>
            <a:ext cx="5338916" cy="584775"/>
          </a:xfrm>
          <a:prstGeom prst="rect">
            <a:avLst/>
          </a:prstGeom>
          <a:noFill/>
        </p:spPr>
        <p:txBody>
          <a:bodyPr wrap="square" rtlCol="0">
            <a:spAutoFit/>
          </a:bodyPr>
          <a:lstStyle/>
          <a:p>
            <a:r>
              <a:rPr lang="en-US" sz="3200" b="1" dirty="0">
                <a:solidFill>
                  <a:schemeClr val="tx1"/>
                </a:solidFill>
                <a:latin typeface="Times New Roman" panose="02020603050405020304" pitchFamily="18" charset="0"/>
                <a:cs typeface="Times New Roman" panose="02020603050405020304" pitchFamily="18" charset="0"/>
              </a:rPr>
              <a:t>Methodology</a:t>
            </a:r>
            <a:endParaRPr lang="en-US" sz="2800" b="1" dirty="0"/>
          </a:p>
        </p:txBody>
      </p:sp>
    </p:spTree>
    <p:extLst>
      <p:ext uri="{BB962C8B-B14F-4D97-AF65-F5344CB8AC3E}">
        <p14:creationId xmlns:p14="http://schemas.microsoft.com/office/powerpoint/2010/main" val="3283179984"/>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D5ED701D-2BBB-5571-E29B-48D6CAD67EA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6EE424-7E4E-3612-05FA-B2E59BE98F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
        <p:nvSpPr>
          <p:cNvPr id="4" name="TextBox 3">
            <a:extLst>
              <a:ext uri="{FF2B5EF4-FFF2-40B4-BE49-F238E27FC236}">
                <a16:creationId xmlns:a16="http://schemas.microsoft.com/office/drawing/2014/main" id="{C4B840FD-3AF5-7507-8A87-F6A165B222F2}"/>
              </a:ext>
            </a:extLst>
          </p:cNvPr>
          <p:cNvSpPr txBox="1"/>
          <p:nvPr/>
        </p:nvSpPr>
        <p:spPr>
          <a:xfrm>
            <a:off x="152400" y="1289379"/>
            <a:ext cx="8534400" cy="4093428"/>
          </a:xfrm>
          <a:prstGeom prst="rect">
            <a:avLst/>
          </a:prstGeom>
          <a:noFill/>
        </p:spPr>
        <p:txBody>
          <a:bodyPr wrap="square" rtlCol="0">
            <a:spAutoFit/>
          </a:bodyPr>
          <a:lstStyle/>
          <a:p>
            <a:pPr marL="457200" indent="-457200" algn="just">
              <a:buAutoNum type="arabicPeriod"/>
            </a:pPr>
            <a:r>
              <a:rPr lang="en-US" sz="2000" dirty="0">
                <a:latin typeface="Times New Roman" panose="02020603050405020304" pitchFamily="18" charset="0"/>
                <a:cs typeface="Times New Roman" panose="02020603050405020304" pitchFamily="18" charset="0"/>
              </a:rPr>
              <a:t>AI-driven approach used for medical image analysis with Edge AI technology</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Medical images such as X-rays, CT scans, MRI, and ultrasound collected from datasets.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Data preprocessing done through cleaning, labeling, resizing, and normalization.</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CNN models trained to identify diseases and abnormalities in images.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Trained model optimized using pruning and quantization techniques.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Lightweight model deployed on edge devices for local processing.</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Real-time diagnostic outputs generated to support doctors.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Results analyzed using accuracy, precision, recall, and response speed.</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11FB006-9E9F-6F42-C50B-28601A3FA75F}"/>
              </a:ext>
            </a:extLst>
          </p:cNvPr>
          <p:cNvSpPr txBox="1"/>
          <p:nvPr/>
        </p:nvSpPr>
        <p:spPr>
          <a:xfrm>
            <a:off x="245806" y="186813"/>
            <a:ext cx="5338916" cy="584775"/>
          </a:xfrm>
          <a:prstGeom prst="rect">
            <a:avLst/>
          </a:prstGeom>
          <a:noFill/>
        </p:spPr>
        <p:txBody>
          <a:bodyPr wrap="square" rtlCol="0">
            <a:spAutoFit/>
          </a:bodyPr>
          <a:lstStyle/>
          <a:p>
            <a:r>
              <a:rPr lang="en-US" sz="3200" b="1" dirty="0">
                <a:solidFill>
                  <a:schemeClr val="tx1"/>
                </a:solidFill>
                <a:latin typeface="Times New Roman" panose="02020603050405020304" pitchFamily="18" charset="0"/>
                <a:cs typeface="Times New Roman" panose="02020603050405020304" pitchFamily="18" charset="0"/>
              </a:rPr>
              <a:t>Approach Used</a:t>
            </a:r>
            <a:endParaRPr lang="en-US" sz="2800" b="1" dirty="0"/>
          </a:p>
        </p:txBody>
      </p:sp>
    </p:spTree>
    <p:extLst>
      <p:ext uri="{BB962C8B-B14F-4D97-AF65-F5344CB8AC3E}">
        <p14:creationId xmlns:p14="http://schemas.microsoft.com/office/powerpoint/2010/main" val="2055409812"/>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857789AD-E114-14BE-3BD8-95DA93DF0F3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3FDC8B-6F29-3E44-3630-7BF33944A4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sp>
        <p:nvSpPr>
          <p:cNvPr id="4" name="TextBox 3">
            <a:extLst>
              <a:ext uri="{FF2B5EF4-FFF2-40B4-BE49-F238E27FC236}">
                <a16:creationId xmlns:a16="http://schemas.microsoft.com/office/drawing/2014/main" id="{94675D0B-161A-2022-724D-53D48AE692ED}"/>
              </a:ext>
            </a:extLst>
          </p:cNvPr>
          <p:cNvSpPr txBox="1"/>
          <p:nvPr/>
        </p:nvSpPr>
        <p:spPr>
          <a:xfrm>
            <a:off x="152400" y="1289379"/>
            <a:ext cx="8534400" cy="2862322"/>
          </a:xfrm>
          <a:prstGeom prst="rect">
            <a:avLst/>
          </a:prstGeom>
          <a:noFill/>
        </p:spPr>
        <p:txBody>
          <a:bodyPr wrap="square" rtlCol="0">
            <a:spAutoFit/>
          </a:bodyPr>
          <a:lstStyle/>
          <a:p>
            <a:pPr marL="457200" indent="-457200" algn="just">
              <a:buAutoNum type="arabicPeriod"/>
            </a:pPr>
            <a:r>
              <a:rPr lang="en-US" sz="2000" dirty="0">
                <a:latin typeface="Times New Roman" panose="02020603050405020304" pitchFamily="18" charset="0"/>
                <a:cs typeface="Times New Roman" panose="02020603050405020304" pitchFamily="18" charset="0"/>
              </a:rPr>
              <a:t>Edge AI enables real-time medical image analysis.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Diagnostic accuracy is improved compared to traditional methods.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AI models detect abnormalities with better consistency.</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Low latency processing increases system efficiency.</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Human errors in image interpretation are reduced.</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Local processing improves patient data privacy.</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Performance remains effective in low-network areas.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Doctors receive faster clinical support for decisions.</a:t>
            </a:r>
          </a:p>
          <a:p>
            <a:pPr algn="just"/>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FB07ABD-F4C9-CDDF-2B73-8B148E3A17A0}"/>
              </a:ext>
            </a:extLst>
          </p:cNvPr>
          <p:cNvSpPr txBox="1"/>
          <p:nvPr/>
        </p:nvSpPr>
        <p:spPr>
          <a:xfrm>
            <a:off x="245806" y="186813"/>
            <a:ext cx="5338916" cy="523220"/>
          </a:xfrm>
          <a:prstGeom prst="rect">
            <a:avLst/>
          </a:prstGeom>
          <a:noFill/>
        </p:spPr>
        <p:txBody>
          <a:bodyPr wrap="square" rtlCol="0">
            <a:spAutoFit/>
          </a:bodyPr>
          <a:lstStyle/>
          <a:p>
            <a:r>
              <a:rPr lang="en-US" sz="2800" b="1" dirty="0"/>
              <a:t>Key Findings</a:t>
            </a:r>
          </a:p>
        </p:txBody>
      </p:sp>
    </p:spTree>
    <p:extLst>
      <p:ext uri="{BB962C8B-B14F-4D97-AF65-F5344CB8AC3E}">
        <p14:creationId xmlns:p14="http://schemas.microsoft.com/office/powerpoint/2010/main" val="2718711256"/>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DA8FC30-6954-B61E-66BB-6E1DFB2FDA1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3D18CA-006D-7E4A-A093-3C155BC44F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sp>
        <p:nvSpPr>
          <p:cNvPr id="4" name="TextBox 3">
            <a:extLst>
              <a:ext uri="{FF2B5EF4-FFF2-40B4-BE49-F238E27FC236}">
                <a16:creationId xmlns:a16="http://schemas.microsoft.com/office/drawing/2014/main" id="{1ED0DE5E-35E3-0286-5DA4-D5B9A4D67C95}"/>
              </a:ext>
            </a:extLst>
          </p:cNvPr>
          <p:cNvSpPr txBox="1"/>
          <p:nvPr/>
        </p:nvSpPr>
        <p:spPr>
          <a:xfrm>
            <a:off x="152400" y="1289379"/>
            <a:ext cx="8534400" cy="2862322"/>
          </a:xfrm>
          <a:prstGeom prst="rect">
            <a:avLst/>
          </a:prstGeom>
          <a:noFill/>
        </p:spPr>
        <p:txBody>
          <a:bodyPr wrap="square" rtlCol="0">
            <a:spAutoFit/>
          </a:bodyPr>
          <a:lstStyle/>
          <a:p>
            <a:pPr marL="457200" indent="-457200" algn="just">
              <a:buAutoNum type="arabicPeriod"/>
            </a:pPr>
            <a:r>
              <a:rPr lang="en-US" sz="2000" dirty="0">
                <a:latin typeface="Times New Roman" panose="02020603050405020304" pitchFamily="18" charset="0"/>
                <a:cs typeface="Times New Roman" panose="02020603050405020304" pitchFamily="18" charset="0"/>
              </a:rPr>
              <a:t>Faster diagnosis and treatment initiation for patients.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Better healthcare support in rural and remote locations.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Reduced workload on radiologists and medical staff.</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Improved patient outcomes through timely decisions.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Lower dependency on cloud servers and internet access.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More secure handling of sensitive medical records.</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Increased efficiency in hospital workflow management.</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Greater adoption potential for portable healthcare devices.</a:t>
            </a:r>
          </a:p>
          <a:p>
            <a:pPr algn="just"/>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AEA8264-7B10-C06C-532E-9F4A056DC39A}"/>
              </a:ext>
            </a:extLst>
          </p:cNvPr>
          <p:cNvSpPr txBox="1"/>
          <p:nvPr/>
        </p:nvSpPr>
        <p:spPr>
          <a:xfrm>
            <a:off x="245806" y="186813"/>
            <a:ext cx="5338916" cy="523220"/>
          </a:xfrm>
          <a:prstGeom prst="rect">
            <a:avLst/>
          </a:prstGeom>
          <a:noFill/>
        </p:spPr>
        <p:txBody>
          <a:bodyPr wrap="square" rtlCol="0">
            <a:spAutoFit/>
          </a:bodyPr>
          <a:lstStyle/>
          <a:p>
            <a:r>
              <a:rPr lang="en-US" sz="2800" b="1" dirty="0"/>
              <a:t>Outcomes</a:t>
            </a:r>
          </a:p>
        </p:txBody>
      </p:sp>
    </p:spTree>
    <p:extLst>
      <p:ext uri="{BB962C8B-B14F-4D97-AF65-F5344CB8AC3E}">
        <p14:creationId xmlns:p14="http://schemas.microsoft.com/office/powerpoint/2010/main" val="984489931"/>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E99DBDD3-DE3E-C871-DE85-2ED1F7F63D2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249E01-C830-1CC5-AA43-2AC1B35F94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sp>
        <p:nvSpPr>
          <p:cNvPr id="4" name="TextBox 3">
            <a:extLst>
              <a:ext uri="{FF2B5EF4-FFF2-40B4-BE49-F238E27FC236}">
                <a16:creationId xmlns:a16="http://schemas.microsoft.com/office/drawing/2014/main" id="{750F4A54-9410-ACE7-EF7C-97B3F942EFD6}"/>
              </a:ext>
            </a:extLst>
          </p:cNvPr>
          <p:cNvSpPr txBox="1"/>
          <p:nvPr/>
        </p:nvSpPr>
        <p:spPr>
          <a:xfrm>
            <a:off x="186812" y="1296954"/>
            <a:ext cx="8770375" cy="2554545"/>
          </a:xfrm>
          <a:prstGeom prst="rect">
            <a:avLst/>
          </a:prstGeom>
          <a:noFill/>
        </p:spPr>
        <p:txBody>
          <a:bodyPr wrap="square" rtlCol="0">
            <a:spAutoFit/>
          </a:bodyPr>
          <a:lstStyle/>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Development of more advanced and lightweight AI models.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Integration of Explainable AI for better trust and transparency.</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Wider adoption in hospitals, clinics, and rural healthcare centers.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Use of Edge AI in wearable devices and handheld scanners.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Implementation of federated learning for secure data sharing.</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Improvement in real-time monitoring and remote patient care.</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Better integration with Electronic Health Record (EHR) systems.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 Continuous upgrades to enhance accuracy, speed, and efficiency.</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D6D693E-E711-30C0-B8CE-69442F240BCB}"/>
              </a:ext>
            </a:extLst>
          </p:cNvPr>
          <p:cNvSpPr txBox="1"/>
          <p:nvPr/>
        </p:nvSpPr>
        <p:spPr>
          <a:xfrm>
            <a:off x="245806" y="186813"/>
            <a:ext cx="5338916" cy="954107"/>
          </a:xfrm>
          <a:prstGeom prst="rect">
            <a:avLst/>
          </a:prstGeom>
          <a:noFill/>
        </p:spPr>
        <p:txBody>
          <a:bodyPr wrap="square" rtlCol="0">
            <a:spAutoFit/>
          </a:bodyPr>
          <a:lstStyle/>
          <a:p>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p>
          <a:p>
            <a:endParaRPr lang="en-US" sz="2800" b="1" dirty="0"/>
          </a:p>
        </p:txBody>
      </p:sp>
    </p:spTree>
    <p:extLst>
      <p:ext uri="{BB962C8B-B14F-4D97-AF65-F5344CB8AC3E}">
        <p14:creationId xmlns:p14="http://schemas.microsoft.com/office/powerpoint/2010/main" val="3583139928"/>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CE2658D5-3072-F4C2-FBD6-173385DC58A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000357-DC4D-B6C1-EBD6-BE4354365D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sp>
        <p:nvSpPr>
          <p:cNvPr id="4" name="TextBox 3">
            <a:extLst>
              <a:ext uri="{FF2B5EF4-FFF2-40B4-BE49-F238E27FC236}">
                <a16:creationId xmlns:a16="http://schemas.microsoft.com/office/drawing/2014/main" id="{7EC7BFB0-183B-D753-01E3-FB589F182910}"/>
              </a:ext>
            </a:extLst>
          </p:cNvPr>
          <p:cNvSpPr txBox="1"/>
          <p:nvPr/>
        </p:nvSpPr>
        <p:spPr>
          <a:xfrm>
            <a:off x="117987" y="1159265"/>
            <a:ext cx="8770375" cy="286232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Edge AI has the potential to transform healthcare diagnostics by providing faster real-time diagnosis with low latency. It improves the accuracy and consistency of medical imaging results while reducing human errors in disease detection and analysis. The technology supports doctors in making smarter and quicker treatment decisions through instant insights. It also enhances privacy by processing patient data directly on local devices instead of external servers. Edge AI is highly useful in rural and emergency healthcare areas where internet connectivity or specialists may be limited. Overall, it increases healthcare efficiency and improves patient outcomes.</a:t>
            </a:r>
            <a:endParaRPr lang="en-US" sz="105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C66E32A-B684-3446-0533-AA6CF90CFC70}"/>
              </a:ext>
            </a:extLst>
          </p:cNvPr>
          <p:cNvSpPr txBox="1"/>
          <p:nvPr/>
        </p:nvSpPr>
        <p:spPr>
          <a:xfrm>
            <a:off x="255638" y="186813"/>
            <a:ext cx="5338916" cy="1938992"/>
          </a:xfrm>
          <a:prstGeom prst="rect">
            <a:avLst/>
          </a:prstGeom>
          <a:noFill/>
        </p:spPr>
        <p:txBody>
          <a:bodyPr wrap="square" rtlCol="0">
            <a:spAutoFit/>
          </a:bodyPr>
          <a:lstStyle/>
          <a:p>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endPar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2800" b="1" dirty="0"/>
          </a:p>
        </p:txBody>
      </p:sp>
    </p:spTree>
    <p:extLst>
      <p:ext uri="{BB962C8B-B14F-4D97-AF65-F5344CB8AC3E}">
        <p14:creationId xmlns:p14="http://schemas.microsoft.com/office/powerpoint/2010/main" val="2053326938"/>
      </p:ext>
    </p:extLst>
  </p:cSld>
  <p:clrMapOvr>
    <a:masterClrMapping/>
  </p:clrMapOvr>
  <p:transition>
    <p:fade thruBlk="1"/>
  </p:transition>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TotalTime>
  <Words>973</Words>
  <Application>Microsoft Office PowerPoint</Application>
  <PresentationFormat>On-screen Show (4:3)</PresentationFormat>
  <Paragraphs>86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Arushi Gupta</dc:creator>
  <cp:lastModifiedBy>Khushi Wadhwa</cp:lastModifiedBy>
  <cp:revision>17</cp:revision>
  <dcterms:modified xsi:type="dcterms:W3CDTF">2026-04-26T15:56:36Z</dcterms:modified>
</cp:coreProperties>
</file>